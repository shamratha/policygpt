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B60AA"/>
          </a:solidFill>
          <a:ln>
            <a:solidFill>
              <a:srgbClr val="1B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14400"/>
            <a:ext cx="10789920" cy="11887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ptos"/>
              </a:rPr>
              <a:t>PolicyGPT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29968"/>
            <a:ext cx="10424160" cy="8229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400" b="1">
                <a:solidFill>
                  <a:srgbClr val="D6EEF7"/>
                </a:solidFill>
                <a:latin typeface="Aptos"/>
              </a:rPr>
              <a:t>An AI-Driven Policy Intelligence and Assistance Platform
for Government Schemes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82112"/>
            <a:ext cx="521208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>
                <a:solidFill>
                  <a:srgbClr val="37BECD"/>
                </a:solidFill>
                <a:latin typeface="Aptos"/>
              </a:rPr>
              <a:t>Project Work 2  |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566928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Guided by
Sanket S. Kulkarni
Assistant Professor, Department of Machine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886200"/>
            <a:ext cx="4572000" cy="10972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Presented by
Sahana B.K.  •  1BM23AI162
Shamratha G.  •  1BM23AI173
Suniksha Priya  •  1BM23AI192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54864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D6EEF7"/>
                </a:solidFill>
                <a:latin typeface="Aptos"/>
              </a:rPr>
              <a:t>B.M.S. College of Engineering  |  Department of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715000"/>
            <a:ext cx="3108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100" b="0">
                <a:solidFill>
                  <a:srgbClr val="D6EEF7"/>
                </a:solidFill>
                <a:latin typeface="Aptos"/>
              </a:rPr>
              <a:t>Semester VII • Section C • 04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REVIEW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713232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81912"/>
            <a:ext cx="4709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01  Introduction and motivation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68880"/>
            <a:ext cx="5074920" cy="713232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633472"/>
            <a:ext cx="4709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02  Proposed system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20439"/>
            <a:ext cx="5074920" cy="713232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685031"/>
            <a:ext cx="4709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03  Implementation methodology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72000"/>
            <a:ext cx="5074920" cy="713232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736592"/>
            <a:ext cx="4709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04  System / module development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5074920" cy="713232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581912"/>
            <a:ext cx="4709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05  Implementation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468880"/>
            <a:ext cx="5074920" cy="713232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633472"/>
            <a:ext cx="4709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06  Algorithm and model implementation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520439"/>
            <a:ext cx="5074920" cy="713232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3685031"/>
            <a:ext cx="4709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07  Testing, validation and preliminary results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572000"/>
            <a:ext cx="5074920" cy="713232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736592"/>
            <a:ext cx="4709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08  Limitations, next steps and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Why PolicyGPT?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01 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37560" cy="4526280"/>
          </a:xfrm>
          <a:prstGeom prst="roundRect">
            <a:avLst/>
          </a:prstGeom>
          <a:solidFill>
            <a:srgbClr val="0A1937"/>
          </a:solidFill>
          <a:ln>
            <a:solidFill>
              <a:srgbClr val="0A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278892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300" b="1">
                <a:solidFill>
                  <a:srgbClr val="FFFFFF"/>
                </a:solidFill>
                <a:latin typeface="Aptos"/>
              </a:rPr>
              <a:t>The access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2743200" cy="2606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DCEDF7"/>
                </a:solidFill>
                <a:latin typeface="Aptos"/>
              </a:rPr>
              <a:t>Government schemes are available, but often
• scattered across portals
• buried in long PDFs
• written in legal terminology
• hard to compare or personalize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6903720" cy="5486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300" b="1">
                <a:solidFill>
                  <a:srgbClr val="0A1937"/>
                </a:solidFill>
                <a:latin typeface="Aptos"/>
              </a:rPr>
              <a:t>Two users, one evidence 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3154680" cy="3200400"/>
          </a:xfrm>
          <a:prstGeom prst="roundRect">
            <a:avLst/>
          </a:prstGeom>
          <a:solidFill>
            <a:srgbClr val="EDF9F6"/>
          </a:solidFill>
          <a:ln>
            <a:solidFill>
              <a:srgbClr val="B1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377440"/>
            <a:ext cx="25603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>
                <a:solidFill>
                  <a:srgbClr val="189191"/>
                </a:solidFill>
                <a:latin typeface="Aptos"/>
              </a:rPr>
              <a:t>Citizen assistant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07792"/>
            <a:ext cx="2697480" cy="19202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Plain-language explanations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Likely eligibility checks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Application steps and 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057400"/>
            <a:ext cx="3154680" cy="3200400"/>
          </a:xfrm>
          <a:prstGeom prst="roundRect">
            <a:avLst/>
          </a:prstGeom>
          <a:solidFill>
            <a:srgbClr val="F6F2FC"/>
          </a:solidFill>
          <a:ln>
            <a:solidFill>
              <a:srgbClr val="D3C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377440"/>
            <a:ext cx="25603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000" b="1">
                <a:solidFill>
                  <a:srgbClr val="1B60AA"/>
                </a:solidFill>
                <a:latin typeface="Aptos"/>
              </a:rPr>
              <a:t>Policy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07792"/>
            <a:ext cx="2697480" cy="19202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Compare policies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Find gaps and overlaps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Export auditable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5532120"/>
            <a:ext cx="66294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EF933D"/>
                </a:solidFill>
                <a:latin typeface="Aptos"/>
              </a:rPr>
              <a:t>Responsible-AI principle: show evidence, uncertainty and issuing-agency responsibility.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Proposed system and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02 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70432"/>
            <a:ext cx="106070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0">
                <a:solidFill>
                  <a:srgbClr val="596980"/>
                </a:solidFill>
                <a:latin typeface="Aptos"/>
              </a:rPr>
              <a:t>One traceable pipeline serves both the citizen and analyst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1234440" cy="914400"/>
          </a:xfrm>
          <a:prstGeom prst="roundRect">
            <a:avLst/>
          </a:prstGeom>
          <a:solidFill>
            <a:srgbClr val="1B60AA"/>
          </a:solidFill>
          <a:ln>
            <a:solidFill>
              <a:srgbClr val="1B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395728"/>
            <a:ext cx="1088136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Browser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148840"/>
            <a:ext cx="1234440" cy="914400"/>
          </a:xfrm>
          <a:prstGeom prst="roundRect">
            <a:avLst/>
          </a:prstGeom>
          <a:solidFill>
            <a:srgbClr val="189191"/>
          </a:solidFill>
          <a:ln>
            <a:solidFill>
              <a:srgbClr val="18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2395728"/>
            <a:ext cx="1088136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FastAPI
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148840"/>
            <a:ext cx="1234440" cy="914400"/>
          </a:xfrm>
          <a:prstGeom prst="roundRect">
            <a:avLst/>
          </a:prstGeom>
          <a:solidFill>
            <a:srgbClr val="0A1937"/>
          </a:solidFill>
          <a:ln>
            <a:solidFill>
              <a:srgbClr val="0A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2395728"/>
            <a:ext cx="1088136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Orchestrator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148840"/>
            <a:ext cx="1234440" cy="914400"/>
          </a:xfrm>
          <a:prstGeom prst="roundRect">
            <a:avLst/>
          </a:prstGeom>
          <a:solidFill>
            <a:srgbClr val="1B60AA"/>
          </a:solidFill>
          <a:ln>
            <a:solidFill>
              <a:srgbClr val="1B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59552" y="2395728"/>
            <a:ext cx="1088136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Domain
router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2148840"/>
            <a:ext cx="1234440" cy="914400"/>
          </a:xfrm>
          <a:prstGeom prst="roundRect">
            <a:avLst/>
          </a:prstGeom>
          <a:solidFill>
            <a:srgbClr val="189191"/>
          </a:solidFill>
          <a:ln>
            <a:solidFill>
              <a:srgbClr val="18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395728"/>
            <a:ext cx="1088136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Hybrid
retrieval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148840"/>
            <a:ext cx="1234440" cy="914400"/>
          </a:xfrm>
          <a:prstGeom prst="roundRect">
            <a:avLst/>
          </a:prstGeom>
          <a:solidFill>
            <a:srgbClr val="0A1937"/>
          </a:solidFill>
          <a:ln>
            <a:solidFill>
              <a:srgbClr val="0A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2395728"/>
            <a:ext cx="1088136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Generate +
validate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68128" y="2148840"/>
            <a:ext cx="1234440" cy="914400"/>
          </a:xfrm>
          <a:prstGeom prst="roundRect">
            <a:avLst/>
          </a:prstGeom>
          <a:solidFill>
            <a:srgbClr val="1B60AA"/>
          </a:solidFill>
          <a:ln>
            <a:solidFill>
              <a:srgbClr val="1B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2395728"/>
            <a:ext cx="1088136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Report +
history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11680" y="2606040"/>
            <a:ext cx="320040" cy="0"/>
          </a:xfrm>
          <a:prstGeom prst="line">
            <a:avLst/>
          </a:prstGeom>
          <a:ln w="25400">
            <a:solidFill>
              <a:srgbClr val="37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566160" y="2606040"/>
            <a:ext cx="320040" cy="0"/>
          </a:xfrm>
          <a:prstGeom prst="line">
            <a:avLst/>
          </a:prstGeom>
          <a:ln w="25400">
            <a:solidFill>
              <a:srgbClr val="37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120640" y="2606040"/>
            <a:ext cx="365760" cy="0"/>
          </a:xfrm>
          <a:prstGeom prst="line">
            <a:avLst/>
          </a:prstGeom>
          <a:ln w="25400">
            <a:solidFill>
              <a:srgbClr val="37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720840" y="2606040"/>
            <a:ext cx="338328" cy="0"/>
          </a:xfrm>
          <a:prstGeom prst="line">
            <a:avLst/>
          </a:prstGeom>
          <a:ln w="25400">
            <a:solidFill>
              <a:srgbClr val="37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93608" y="2606040"/>
            <a:ext cx="347472" cy="0"/>
          </a:xfrm>
          <a:prstGeom prst="line">
            <a:avLst/>
          </a:prstGeom>
          <a:ln w="25400">
            <a:solidFill>
              <a:srgbClr val="37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75519" y="2606040"/>
            <a:ext cx="292609" cy="0"/>
          </a:xfrm>
          <a:prstGeom prst="line">
            <a:avLst/>
          </a:prstGeom>
          <a:ln w="25400">
            <a:solidFill>
              <a:srgbClr val="37BE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60120" y="3886200"/>
            <a:ext cx="4846320" cy="1234440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096512"/>
            <a:ext cx="438912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0A1937"/>
                </a:solidFill>
                <a:latin typeface="Aptos"/>
              </a:rPr>
              <a:t>Citizen path
question → explanation → eligibility → application guidance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886200"/>
            <a:ext cx="4846320" cy="1234440"/>
          </a:xfrm>
          <a:prstGeom prst="roundRect">
            <a:avLst/>
          </a:prstGeom>
          <a:solidFill>
            <a:srgbClr val="F6F2FC"/>
          </a:solidFill>
          <a:ln>
            <a:solidFill>
              <a:srgbClr val="D3C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96512"/>
            <a:ext cx="4389120" cy="7315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0A1937"/>
                </a:solidFill>
                <a:latin typeface="Aptos"/>
              </a:rPr>
              <a:t>Analyst path
retrieve → compare → identify gaps/overlaps → export 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623560"/>
            <a:ext cx="101498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0">
                <a:solidFill>
                  <a:srgbClr val="596980"/>
                </a:solidFill>
                <a:latin typeface="Aptos"/>
              </a:rPr>
              <a:t>SQLite stores sessions, messages, metadata and generated reports; source metadata travels with every chunk.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Implementation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03 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3246120" cy="1325880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527048"/>
            <a:ext cx="475488" cy="475488"/>
          </a:xfrm>
          <a:prstGeom prst="roundRect">
            <a:avLst/>
          </a:prstGeom>
          <a:solidFill>
            <a:srgbClr val="1B60AA"/>
          </a:solidFill>
          <a:ln>
            <a:solidFill>
              <a:srgbClr val="1B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508760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65960"/>
            <a:ext cx="2148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96980"/>
                </a:solidFill>
                <a:latin typeface="Aptos"/>
              </a:rPr>
              <a:t>clean policy text + source metadata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325880"/>
            <a:ext cx="3246120" cy="1325880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1527048"/>
            <a:ext cx="475488" cy="475488"/>
          </a:xfrm>
          <a:prstGeom prst="roundRect">
            <a:avLst/>
          </a:prstGeom>
          <a:solidFill>
            <a:srgbClr val="1B60AA"/>
          </a:solidFill>
          <a:ln>
            <a:solidFill>
              <a:srgbClr val="1B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00200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508760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1965960"/>
            <a:ext cx="2148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96980"/>
                </a:solidFill>
                <a:latin typeface="Aptos"/>
              </a:rPr>
              <a:t>domain and intent classification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246120" cy="1325880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0" y="1527048"/>
            <a:ext cx="475488" cy="475488"/>
          </a:xfrm>
          <a:prstGeom prst="roundRect">
            <a:avLst/>
          </a:prstGeom>
          <a:solidFill>
            <a:srgbClr val="1B60AA"/>
          </a:solidFill>
          <a:ln>
            <a:solidFill>
              <a:srgbClr val="1B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00200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508760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1965960"/>
            <a:ext cx="2148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96980"/>
                </a:solidFill>
                <a:latin typeface="Aptos"/>
              </a:rPr>
              <a:t>lexical + semantic ranking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291839"/>
            <a:ext cx="3246120" cy="1325880"/>
          </a:xfrm>
          <a:prstGeom prst="roundRect">
            <a:avLst/>
          </a:prstGeom>
          <a:solidFill>
            <a:srgbClr val="F1F7F4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3493008"/>
            <a:ext cx="475488" cy="475488"/>
          </a:xfrm>
          <a:prstGeom prst="roundRect">
            <a:avLst/>
          </a:prstGeom>
          <a:solidFill>
            <a:srgbClr val="189191"/>
          </a:solidFill>
          <a:ln>
            <a:solidFill>
              <a:srgbClr val="18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59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474720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Generate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931920"/>
            <a:ext cx="2148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96980"/>
                </a:solidFill>
                <a:latin typeface="Aptos"/>
              </a:rPr>
              <a:t>role-aware grounded answer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59" y="3291839"/>
            <a:ext cx="3246120" cy="1325880"/>
          </a:xfrm>
          <a:prstGeom prst="roundRect">
            <a:avLst/>
          </a:prstGeom>
          <a:solidFill>
            <a:srgbClr val="F1F7F4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63440" y="3493008"/>
            <a:ext cx="475488" cy="475488"/>
          </a:xfrm>
          <a:prstGeom prst="roundRect">
            <a:avLst/>
          </a:prstGeom>
          <a:solidFill>
            <a:srgbClr val="189191"/>
          </a:solidFill>
          <a:ln>
            <a:solidFill>
              <a:srgbClr val="18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566159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3474720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931920"/>
            <a:ext cx="2148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96980"/>
                </a:solidFill>
                <a:latin typeface="Aptos"/>
              </a:rPr>
              <a:t>claim audit + confidence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291839"/>
            <a:ext cx="3246120" cy="1325880"/>
          </a:xfrm>
          <a:prstGeom prst="roundRect">
            <a:avLst/>
          </a:prstGeom>
          <a:solidFill>
            <a:srgbClr val="F1F7F4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412480" y="3493008"/>
            <a:ext cx="475488" cy="475488"/>
          </a:xfrm>
          <a:prstGeom prst="roundRect">
            <a:avLst/>
          </a:prstGeom>
          <a:solidFill>
            <a:srgbClr val="189191"/>
          </a:solidFill>
          <a:ln>
            <a:solidFill>
              <a:srgbClr val="18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566159"/>
            <a:ext cx="475488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3474720"/>
            <a:ext cx="214884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800" b="1">
                <a:solidFill>
                  <a:srgbClr val="0A1937"/>
                </a:solidFill>
                <a:latin typeface="Aptos"/>
              </a:rPr>
              <a:t>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931920"/>
            <a:ext cx="214884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96980"/>
                </a:solidFill>
                <a:latin typeface="Aptos"/>
              </a:rPr>
              <a:t>citations, warnings,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66928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EF933D"/>
                </a:solidFill>
                <a:latin typeface="Aptos"/>
              </a:rPr>
              <a:t>Hybrid score = 0.35 lexical relevance + 0.65 deterministic semantic bigram similarity. A bounded repair pass runs when confidence &lt; 0.75 or hallucination risk &gt; 0.25.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System and module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04 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34440"/>
            <a:ext cx="2240280" cy="658368"/>
          </a:xfrm>
          <a:prstGeom prst="roundRect">
            <a:avLst/>
          </a:prstGeom>
          <a:solidFill>
            <a:srgbClr val="299968"/>
          </a:solidFill>
          <a:ln>
            <a:solidFill>
              <a:srgbClr val="299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965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Policy corpus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7818120" cy="658368"/>
          </a:xfrm>
          <a:prstGeom prst="roundRect">
            <a:avLst/>
          </a:prstGeom>
          <a:solidFill>
            <a:srgbClr val="EFF7FC"/>
          </a:solidFill>
          <a:ln>
            <a:solidFill>
              <a:srgbClr val="D8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399032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2033"/>
                </a:solidFill>
                <a:latin typeface="Aptos"/>
              </a:rPr>
              <a:t>Six domains: education, agriculture, MSME, finance, health, disaster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167128"/>
            <a:ext cx="2240280" cy="658368"/>
          </a:xfrm>
          <a:prstGeom prst="roundRect">
            <a:avLst/>
          </a:prstGeom>
          <a:solidFill>
            <a:srgbClr val="1B60AA"/>
          </a:solidFill>
          <a:ln>
            <a:solidFill>
              <a:srgbClr val="1B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350008"/>
            <a:ext cx="1965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Citizen 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167128"/>
            <a:ext cx="7818120" cy="658368"/>
          </a:xfrm>
          <a:prstGeom prst="roundRect">
            <a:avLst/>
          </a:prstGeom>
          <a:solidFill>
            <a:srgbClr val="EFF7FC"/>
          </a:solidFill>
          <a:ln>
            <a:solidFill>
              <a:srgbClr val="D8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331720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2033"/>
                </a:solidFill>
                <a:latin typeface="Aptos"/>
              </a:rPr>
              <a:t>Question answering, simplified explanations, profile-aware checks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099816"/>
            <a:ext cx="2240280" cy="658368"/>
          </a:xfrm>
          <a:prstGeom prst="roundRect">
            <a:avLst/>
          </a:prstGeom>
          <a:solidFill>
            <a:srgbClr val="189191"/>
          </a:solidFill>
          <a:ln>
            <a:solidFill>
              <a:srgbClr val="18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82696"/>
            <a:ext cx="1965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Policy intelligence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099816"/>
            <a:ext cx="7818120" cy="658368"/>
          </a:xfrm>
          <a:prstGeom prst="roundRect">
            <a:avLst/>
          </a:prstGeom>
          <a:solidFill>
            <a:srgbClr val="EFF7FC"/>
          </a:solidFill>
          <a:ln>
            <a:solidFill>
              <a:srgbClr val="D8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3264408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2033"/>
                </a:solidFill>
                <a:latin typeface="Aptos"/>
              </a:rPr>
              <a:t>Retrieval, comparison, gap/overlap analysis and report export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032504"/>
            <a:ext cx="2240280" cy="658368"/>
          </a:xfrm>
          <a:prstGeom prst="roundRect">
            <a:avLst/>
          </a:prstGeom>
          <a:solidFill>
            <a:srgbClr val="EF933D"/>
          </a:solidFill>
          <a:ln>
            <a:solidFill>
              <a:srgbClr val="EF9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215384"/>
            <a:ext cx="1965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Trust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4032504"/>
            <a:ext cx="7818120" cy="658368"/>
          </a:xfrm>
          <a:prstGeom prst="roundRect">
            <a:avLst/>
          </a:prstGeom>
          <a:solidFill>
            <a:srgbClr val="EFF7FC"/>
          </a:solidFill>
          <a:ln>
            <a:solidFill>
              <a:srgbClr val="D8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6160" y="4197096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2033"/>
                </a:solidFill>
                <a:latin typeface="Aptos"/>
              </a:rPr>
              <a:t>Citations, claim audits, confidence and hallucination warnings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965192"/>
            <a:ext cx="2240280" cy="658368"/>
          </a:xfrm>
          <a:prstGeom prst="roundRect">
            <a:avLst/>
          </a:prstGeom>
          <a:solidFill>
            <a:srgbClr val="0A1937"/>
          </a:solidFill>
          <a:ln>
            <a:solidFill>
              <a:srgbClr val="0A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148072"/>
            <a:ext cx="196596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Platform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4965192"/>
            <a:ext cx="7818120" cy="658368"/>
          </a:xfrm>
          <a:prstGeom prst="roundRect">
            <a:avLst/>
          </a:prstGeom>
          <a:solidFill>
            <a:srgbClr val="EFF7FC"/>
          </a:solidFill>
          <a:ln>
            <a:solidFill>
              <a:srgbClr val="D8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5129783"/>
            <a:ext cx="731520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2033"/>
                </a:solidFill>
                <a:latin typeface="Aptos"/>
              </a:rPr>
              <a:t>FastAPI, SQLite, browser UI, Docker and session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989320"/>
            <a:ext cx="102412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EF933D"/>
                </a:solidFill>
                <a:latin typeface="Aptos"/>
              </a:rPr>
              <a:t>Implementation status: prototype path is functional end-to-end; seed records remain illustrative until replaced with approved archived 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Implementation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05  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2331720" cy="3154680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810512"/>
            <a:ext cx="19202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400" b="1">
                <a:solidFill>
                  <a:srgbClr val="1B60AA"/>
                </a:solidFill>
                <a:latin typeface="Aptos"/>
              </a:rPr>
              <a:t>W1–2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514600"/>
            <a:ext cx="1901952" cy="1600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2033"/>
                </a:solidFill>
                <a:latin typeface="Aptos"/>
              </a:rPr>
              <a:t>Architecture, backlog, FastAPI, SQLite, UI and 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4160520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299968"/>
                </a:solidFill>
                <a:latin typeface="Aptos"/>
              </a:rPr>
              <a:t>completed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79" y="1508760"/>
            <a:ext cx="2331720" cy="3154680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3048" y="1810512"/>
            <a:ext cx="19202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400" b="1">
                <a:solidFill>
                  <a:srgbClr val="1B60AA"/>
                </a:solidFill>
                <a:latin typeface="Aptos"/>
              </a:rPr>
              <a:t>W3–4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3048" y="2514600"/>
            <a:ext cx="1901952" cy="1600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2033"/>
                </a:solidFill>
                <a:latin typeface="Aptos"/>
              </a:rPr>
              <a:t>Routing, hybrid retrieval, generation, eligibility and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3048" y="4160520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299968"/>
                </a:solidFill>
                <a:latin typeface="Aptos"/>
              </a:rPr>
              <a:t>completed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08760"/>
            <a:ext cx="2331720" cy="3154680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1810512"/>
            <a:ext cx="19202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400" b="1">
                <a:solidFill>
                  <a:srgbClr val="1B60AA"/>
                </a:solidFill>
                <a:latin typeface="Aptos"/>
              </a:rPr>
              <a:t>W5–6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514600"/>
            <a:ext cx="1901952" cy="1600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0">
                <a:solidFill>
                  <a:srgbClr val="162033"/>
                </a:solidFill>
                <a:latin typeface="Aptos"/>
              </a:rPr>
              <a:t>Bounded repair, Markdown reports, source links and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4160520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299968"/>
                </a:solidFill>
                <a:latin typeface="Aptos"/>
              </a:rPr>
              <a:t>completed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89719" y="1508760"/>
            <a:ext cx="2331720" cy="3154680"/>
          </a:xfrm>
          <a:prstGeom prst="roundRect">
            <a:avLst/>
          </a:prstGeom>
          <a:solidFill>
            <a:srgbClr val="0A1937"/>
          </a:solidFill>
          <a:ln>
            <a:solidFill>
              <a:srgbClr val="0A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0888" y="1810512"/>
            <a:ext cx="192024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400" b="1">
                <a:solidFill>
                  <a:srgbClr val="37BECD"/>
                </a:solidFill>
                <a:latin typeface="Aptos"/>
              </a:rPr>
              <a:t>W7–8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514600"/>
            <a:ext cx="1901952" cy="1600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API/UI smoke tests, presentation evidence and next-phase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4160520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AEE0C7"/>
                </a:solidFill>
                <a:latin typeface="Aptos"/>
              </a:rPr>
              <a:t>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57800"/>
            <a:ext cx="1024128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0A1937"/>
                </a:solidFill>
                <a:latin typeface="Aptos"/>
              </a:rPr>
              <a:t>Current review baseline
A runnable prototype, documented technical decisions, deterministic fallback, test suite, and demo-ready workflow.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Algorithm and model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06 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325880"/>
            <a:ext cx="5166360" cy="4251960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300" b="1">
                <a:solidFill>
                  <a:srgbClr val="0A1937"/>
                </a:solidFill>
                <a:latin typeface="Aptos"/>
              </a:rPr>
              <a:t>Hybrid retrieval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4572000" cy="25603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Lexical signal preserves exact scheme terms and legal phrases.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Deterministic semantic bigrams capture paraphrases without an external model dependency.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Weighted ranking: 35% lexical + 65% semantic.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Top chunks retain source, page and domain metadata.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166360" cy="4251960"/>
          </a:xfrm>
          <a:prstGeom prst="roundRect">
            <a:avLst/>
          </a:prstGeom>
          <a:solidFill>
            <a:srgbClr val="F6F2FC"/>
          </a:solidFill>
          <a:ln>
            <a:solidFill>
              <a:srgbClr val="D3C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448056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300" b="1">
                <a:solidFill>
                  <a:srgbClr val="0A1937"/>
                </a:solidFill>
                <a:latin typeface="Aptos"/>
              </a:rPr>
              <a:t>Validation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40280"/>
            <a:ext cx="4572000" cy="25603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Generation is constrained by retrieved evidence.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Claims are matched back to evidence and citations.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Confidence and hallucination risk are surfaced to the user.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One bounded repair pass broadens context for weak answers.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EF933D"/>
                </a:solidFill>
                <a:latin typeface="Aptos"/>
              </a:rPr>
              <a:t>Design choice: deterministic baseline makes the prototype reproducible and offline-capable; production can add approved embedding models.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Testing, validation and preliminary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07 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298448"/>
            <a:ext cx="2057400" cy="621792"/>
          </a:xfrm>
          <a:prstGeom prst="roundRect">
            <a:avLst/>
          </a:prstGeom>
          <a:solidFill>
            <a:srgbClr val="299968"/>
          </a:solidFill>
          <a:ln>
            <a:solidFill>
              <a:srgbClr val="299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472184"/>
            <a:ext cx="16916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Retrieval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98448"/>
            <a:ext cx="7818120" cy="621792"/>
          </a:xfrm>
          <a:prstGeom prst="roundRect">
            <a:avLst/>
          </a:prstGeom>
          <a:solidFill>
            <a:srgbClr val="EFF7FC"/>
          </a:solidFill>
          <a:ln>
            <a:solidFill>
              <a:srgbClr val="D8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463039"/>
            <a:ext cx="73152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2033"/>
                </a:solidFill>
                <a:latin typeface="Aptos"/>
              </a:rPr>
              <a:t>ranking + repeatability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212848"/>
            <a:ext cx="2057400" cy="621792"/>
          </a:xfrm>
          <a:prstGeom prst="roundRect">
            <a:avLst/>
          </a:prstGeom>
          <a:solidFill>
            <a:srgbClr val="1B60AA"/>
          </a:solidFill>
          <a:ln>
            <a:solidFill>
              <a:srgbClr val="1B6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86584"/>
            <a:ext cx="16916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2212848"/>
            <a:ext cx="7818120" cy="621792"/>
          </a:xfrm>
          <a:prstGeom prst="roundRect">
            <a:avLst/>
          </a:prstGeom>
          <a:solidFill>
            <a:srgbClr val="EFF7FC"/>
          </a:solidFill>
          <a:ln>
            <a:solidFill>
              <a:srgbClr val="D8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377440"/>
            <a:ext cx="73152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2033"/>
                </a:solidFill>
                <a:latin typeface="Aptos"/>
              </a:rPr>
              <a:t>health, query and export smoke tests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127248"/>
            <a:ext cx="2057400" cy="621792"/>
          </a:xfrm>
          <a:prstGeom prst="roundRect">
            <a:avLst/>
          </a:prstGeom>
          <a:solidFill>
            <a:srgbClr val="189191"/>
          </a:solidFill>
          <a:ln>
            <a:solidFill>
              <a:srgbClr val="1891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00984"/>
            <a:ext cx="16916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Trust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127248"/>
            <a:ext cx="7818120" cy="621792"/>
          </a:xfrm>
          <a:prstGeom prst="roundRect">
            <a:avLst/>
          </a:prstGeom>
          <a:solidFill>
            <a:srgbClr val="EFF7FC"/>
          </a:solidFill>
          <a:ln>
            <a:solidFill>
              <a:srgbClr val="D8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291840"/>
            <a:ext cx="73152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2033"/>
                </a:solidFill>
                <a:latin typeface="Aptos"/>
              </a:rPr>
              <a:t>citation presence and claim audit checks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041648"/>
            <a:ext cx="2057400" cy="621792"/>
          </a:xfrm>
          <a:prstGeom prst="roundRect">
            <a:avLst/>
          </a:prstGeom>
          <a:solidFill>
            <a:srgbClr val="EF933D"/>
          </a:solidFill>
          <a:ln>
            <a:solidFill>
              <a:srgbClr val="EF9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215384"/>
            <a:ext cx="169164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4041648"/>
            <a:ext cx="7818120" cy="621792"/>
          </a:xfrm>
          <a:prstGeom prst="roundRect">
            <a:avLst/>
          </a:prstGeom>
          <a:solidFill>
            <a:srgbClr val="EFF7FC"/>
          </a:solidFill>
          <a:ln>
            <a:solidFill>
              <a:srgbClr val="D8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4206240"/>
            <a:ext cx="731520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0">
                <a:solidFill>
                  <a:srgbClr val="162033"/>
                </a:solidFill>
                <a:latin typeface="Aptos"/>
              </a:rPr>
              <a:t>workbook, slide and limitation checklist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166360"/>
            <a:ext cx="10195560" cy="749808"/>
          </a:xfrm>
          <a:prstGeom prst="roundRect">
            <a:avLst/>
          </a:prstGeom>
          <a:solidFill>
            <a:srgbClr val="EDF9F6"/>
          </a:solidFill>
          <a:ln>
            <a:solidFill>
              <a:srgbClr val="B1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367528"/>
            <a:ext cx="9738360" cy="34747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89191"/>
                </a:solidFill>
                <a:latin typeface="Aptos"/>
              </a:rPr>
              <a:t>Preliminary result: one request returns a grounded answer, source links, validation metrics and an exportable report. Latency is corpus/provider dependent; offline fallback has no external API dependency.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Limitations, next steps and team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08  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5120640" cy="4480560"/>
          </a:xfrm>
          <a:prstGeom prst="roundRect">
            <a:avLst/>
          </a:prstGeom>
          <a:solidFill>
            <a:srgbClr val="FFF7EE"/>
          </a:solidFill>
          <a:ln>
            <a:solidFill>
              <a:srgbClr val="F4D6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36192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EF933D"/>
                </a:solidFill>
                <a:latin typeface="Aptos"/>
              </a:rPr>
              <a:t>Next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480560" cy="30175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Replace illustrative records with approved, dated official documents.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Add multilingual support, authentication and richer analyst views.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Benchmark retrieval, citation correctness, eligibility accuracy and latency.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Add human-in-the-loop review and user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34440"/>
            <a:ext cx="5120640" cy="4480560"/>
          </a:xfrm>
          <a:prstGeom prst="roundRect">
            <a:avLst/>
          </a:prstGeom>
          <a:solidFill>
            <a:srgbClr val="EFF7FC"/>
          </a:solidFill>
          <a:ln>
            <a:solidFill>
              <a:srgbClr val="CD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36192"/>
            <a:ext cx="43891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200" b="1">
                <a:solidFill>
                  <a:srgbClr val="1B60AA"/>
                </a:solidFill>
                <a:latin typeface="Aptos"/>
              </a:rPr>
              <a:t>Team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03120"/>
            <a:ext cx="4480560" cy="30175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Sahana — corpus and API contracts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Shamratha — retrieval and orchestration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Suniksha — UI, testing and documentation</a:t>
            </a:r>
          </a:p>
          <a:p>
            <a:pPr>
              <a:spcAft>
                <a:spcPts val="800"/>
              </a:spcAft>
              <a:defRPr sz="1600">
                <a:solidFill>
                  <a:srgbClr val="162033"/>
                </a:solidFill>
                <a:latin typeface="Aptos"/>
              </a:defRPr>
            </a:pPr>
            <a:r>
              <a:t>• All members — live query demo and technical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24128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0A1937"/>
                </a:solidFill>
                <a:latin typeface="Aptos"/>
              </a:rPr>
              <a:t>Questions: Why hybrid retrieval? Why validate claims? Why not replace official portals?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Suggestions /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10241280" cy="9144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800" b="1">
                <a:solidFill>
                  <a:srgbClr val="0A1937"/>
                </a:solidFill>
                <a:latin typeface="Aptos"/>
              </a:rPr>
              <a:t>Thank you.
We welcome feedback on corpus scope, evaluation design and deployment priorities.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93192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EF933D"/>
                </a:solidFill>
                <a:latin typeface="Aptos"/>
              </a:rPr>
              <a:t>PolicyGPT is a support tool; official departments remain the source of truth for eligibility and application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9052560" cy="43891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2700" b="1">
                <a:solidFill>
                  <a:srgbClr val="0A1937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438912"/>
            <a:ext cx="1828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1000" b="1">
                <a:solidFill>
                  <a:srgbClr val="1B60AA"/>
                </a:solidFill>
                <a:latin typeface="Aptos"/>
              </a:rPr>
              <a:t>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941832"/>
            <a:ext cx="10972800" cy="13716"/>
          </a:xfrm>
          <a:prstGeom prst="rect">
            <a:avLst/>
          </a:prstGeom>
          <a:solidFill>
            <a:srgbClr val="DAE5EF"/>
          </a:solidFill>
          <a:ln>
            <a:solidFill>
              <a:srgbClr val="DA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37960"/>
            <a:ext cx="822960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900" b="0">
                <a:solidFill>
                  <a:srgbClr val="596980"/>
                </a:solidFill>
                <a:latin typeface="Aptos"/>
              </a:rPr>
              <a:t>PolicyGPT  •  Project Work 2  •  Review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594360" cy="18288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r"/>
            <a:r>
              <a:rPr sz="900" b="0">
                <a:solidFill>
                  <a:srgbClr val="596980"/>
                </a:solidFill>
                <a:latin typeface="Aptos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37BECD"/>
          </a:solidFill>
          <a:ln>
            <a:solidFill>
              <a:srgbClr val="37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78992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1078992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2200" b="1">
                <a:solidFill>
                  <a:srgbClr val="D6EEF7"/>
                </a:solidFill>
                <a:latin typeface="Aptos"/>
              </a:rPr>
              <a:t>PolicyGPT  •  Review 1  •  Project Work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789920" cy="36576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37BECD"/>
                </a:solidFill>
                <a:latin typeface="Aptos"/>
              </a:rPr>
              <a:t>Sahana B.K.  |  Shamratha G.  |  Suniksha Priya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